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746454779e44092" /><Relationship Type="http://schemas.openxmlformats.org/officeDocument/2006/relationships/extended-properties" Target="/docProps/app.xml" Id="Rb35d71a0fcb14f11" /><Relationship Type="http://schemas.openxmlformats.org/officeDocument/2006/relationships/officeDocument" Target="/ppt/presentation.xml" Id="R06f33f2b993740d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7fe082f855482b"/>
  </p:sldMasterIdLst>
  <p:notesMasterIdLst>
    <p:notesMasterId xmlns:r="http://schemas.openxmlformats.org/officeDocument/2006/relationships" r:id="R6d6c6d59e9ea4e41"/>
  </p:notesMasterIdLst>
  <p:sldIdLst>
    <p:sldId xmlns:r="http://schemas.openxmlformats.org/officeDocument/2006/relationships" id="256" r:id="R7c62d8f95c994866"/>
    <p:sldId xmlns:r="http://schemas.openxmlformats.org/officeDocument/2006/relationships" id="257" r:id="Re8517a92ce7b4c4b"/>
    <p:sldId xmlns:r="http://schemas.openxmlformats.org/officeDocument/2006/relationships" id="258" r:id="Rfcf285db02c242fa"/>
    <p:sldId xmlns:r="http://schemas.openxmlformats.org/officeDocument/2006/relationships" id="259" r:id="R6117e56422b94ba5"/>
    <p:sldId xmlns:r="http://schemas.openxmlformats.org/officeDocument/2006/relationships" id="260" r:id="Red2be11ec2e34cbc"/>
    <p:sldId xmlns:r="http://schemas.openxmlformats.org/officeDocument/2006/relationships" id="261" r:id="R85a8186b438a4c05"/>
    <p:sldId xmlns:r="http://schemas.openxmlformats.org/officeDocument/2006/relationships" id="262" r:id="Ra6f8cafe152b4d10"/>
    <p:sldId xmlns:r="http://schemas.openxmlformats.org/officeDocument/2006/relationships" id="263" r:id="Rdf28905389f9406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8a591cd972044e3" /><Relationship Type="http://schemas.openxmlformats.org/officeDocument/2006/relationships/slideMaster" Target="/ppt/slideMasters/slideMaster1.xml" Id="Rbe7fe082f855482b" /><Relationship Type="http://schemas.openxmlformats.org/officeDocument/2006/relationships/notesMaster" Target="/ppt/notesMasters/notesMaster1.xml" Id="R6d6c6d59e9ea4e41" /><Relationship Type="http://schemas.openxmlformats.org/officeDocument/2006/relationships/presProps" Target="/ppt/presProps.xml" Id="R5bd59941f4d74a93" /><Relationship Type="http://schemas.openxmlformats.org/officeDocument/2006/relationships/viewProps" Target="/ppt/viewProps.xml" Id="R38100d34b39147a8" /><Relationship Type="http://schemas.openxmlformats.org/officeDocument/2006/relationships/tableStyles" Target="/ppt/tableStyles.xml" Id="Rdbb5cee9bab348b8" /><Relationship Type="http://schemas.openxmlformats.org/officeDocument/2006/relationships/slide" Target="/ppt/slides/slide1.xml" Id="R7c62d8f95c994866" /><Relationship Type="http://schemas.openxmlformats.org/officeDocument/2006/relationships/slide" Target="/ppt/slides/slide2.xml" Id="Re8517a92ce7b4c4b" /><Relationship Type="http://schemas.openxmlformats.org/officeDocument/2006/relationships/slide" Target="/ppt/slides/slide3.xml" Id="Rfcf285db02c242fa" /><Relationship Type="http://schemas.openxmlformats.org/officeDocument/2006/relationships/slide" Target="/ppt/slides/slide4.xml" Id="R6117e56422b94ba5" /><Relationship Type="http://schemas.openxmlformats.org/officeDocument/2006/relationships/slide" Target="/ppt/slides/slide5.xml" Id="Red2be11ec2e34cbc" /><Relationship Type="http://schemas.openxmlformats.org/officeDocument/2006/relationships/slide" Target="/ppt/slides/slide6.xml" Id="R85a8186b438a4c05" /><Relationship Type="http://schemas.openxmlformats.org/officeDocument/2006/relationships/slide" Target="/ppt/slides/slide7.xml" Id="Ra6f8cafe152b4d10" /><Relationship Type="http://schemas.openxmlformats.org/officeDocument/2006/relationships/slide" Target="/ppt/slides/slide8.xml" Id="Rdf28905389f9406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0d6fe20a07146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5c9b5de6344022" /><Relationship Type="http://schemas.openxmlformats.org/officeDocument/2006/relationships/notesMaster" Target="/ppt/notesMasters/notesMaster1.xml" Id="R76bb056316264ed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beb292596940c3" /><Relationship Type="http://schemas.openxmlformats.org/officeDocument/2006/relationships/notesMaster" Target="/ppt/notesMasters/notesMaster1.xml" Id="R0802520ba05f4b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bb65c7b3c0c4a9d" /><Relationship Type="http://schemas.openxmlformats.org/officeDocument/2006/relationships/notesMaster" Target="/ppt/notesMasters/notesMaster1.xml" Id="R7a54f7f4a710430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5f10dc3ab042c1" /><Relationship Type="http://schemas.openxmlformats.org/officeDocument/2006/relationships/notesMaster" Target="/ppt/notesMasters/notesMaster1.xml" Id="R0372d14cd3724f4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2e7098d63347e7" /><Relationship Type="http://schemas.openxmlformats.org/officeDocument/2006/relationships/notesMaster" Target="/ppt/notesMasters/notesMaster1.xml" Id="R211e42d67d3e426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0444e136ac4b0a" /><Relationship Type="http://schemas.openxmlformats.org/officeDocument/2006/relationships/notesMaster" Target="/ppt/notesMasters/notesMaster1.xml" Id="R2f829e62f91f43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8f6b10f948b408b" /><Relationship Type="http://schemas.openxmlformats.org/officeDocument/2006/relationships/notesMaster" Target="/ppt/notesMasters/notesMaster1.xml" Id="R8eec8d16db54454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9946dfc28d24a4e" /><Relationship Type="http://schemas.openxmlformats.org/officeDocument/2006/relationships/notesMaster" Target="/ppt/notesMasters/notesMaster1.xml" Id="Rb828845dc24b42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61b8fe30a041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01d1f2c2954fd6" /><Relationship Type="http://schemas.openxmlformats.org/officeDocument/2006/relationships/slideLayout" Target="/ppt/slideLayouts/slideLayout1.xml" Id="Rcae5d8e3d4fd46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e5d8e3d4fd46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ed0a477f31401d" /><Relationship Type="http://schemas.openxmlformats.org/officeDocument/2006/relationships/notesSlide" Target="/ppt/notesSlides/notesSlide1.xml" Id="Rc13041b18ce040c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2e161cc8454d4a" /><Relationship Type="http://schemas.openxmlformats.org/officeDocument/2006/relationships/notesSlide" Target="/ppt/notesSlides/notesSlide2.xml" Id="R944ecf9f0e5340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2572f209574495" /><Relationship Type="http://schemas.openxmlformats.org/officeDocument/2006/relationships/notesSlide" Target="/ppt/notesSlides/notesSlide3.xml" Id="Rca0bcb26c59e4a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b5934a89604a5d" /><Relationship Type="http://schemas.openxmlformats.org/officeDocument/2006/relationships/notesSlide" Target="/ppt/notesSlides/notesSlide4.xml" Id="R3a735c3670b845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90d363fd33460f" /><Relationship Type="http://schemas.openxmlformats.org/officeDocument/2006/relationships/image" Target="/ppt/media/image.png" Id="Ra65e0f8c44f841f5" /><Relationship Type="http://schemas.openxmlformats.org/officeDocument/2006/relationships/image" Target="/ppt/media/image2.png" Id="R758af28f0c674ade" /><Relationship Type="http://schemas.openxmlformats.org/officeDocument/2006/relationships/notesSlide" Target="/ppt/notesSlides/notesSlide5.xml" Id="R0cd69c2dee15456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46f67f47504032" /><Relationship Type="http://schemas.openxmlformats.org/officeDocument/2006/relationships/notesSlide" Target="/ppt/notesSlides/notesSlide6.xml" Id="R649e818f9eea47b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3f106bd3c6484a" /><Relationship Type="http://schemas.openxmlformats.org/officeDocument/2006/relationships/image" Target="/ppt/media/image3.png" Id="Rd741ac13e52b41f8" /><Relationship Type="http://schemas.openxmlformats.org/officeDocument/2006/relationships/image" Target="/ppt/media/image4.png" Id="R94e238d6d43c426a" /><Relationship Type="http://schemas.openxmlformats.org/officeDocument/2006/relationships/image" Target="/ppt/media/image5.png" Id="Rad39727aea3048db" /><Relationship Type="http://schemas.openxmlformats.org/officeDocument/2006/relationships/notesSlide" Target="/ppt/notesSlides/notesSlide7.xml" Id="R09b5db323cb145b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cb86067f6e4820" /><Relationship Type="http://schemas.openxmlformats.org/officeDocument/2006/relationships/notesSlide" Target="/ppt/notesSlides/notesSlide8.xml" Id="R04e89c977a4e4ac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E96E45-DCB3-4BE1-B134-8BAD7127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286945D-B7E8-446B-8099-9BB2C071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7239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软件测试与维护大作业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32D833-40B0-4AE9-8DF7-80B2AE16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4310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第三档最低标准路线：Online Boutique + diagnosis-service + FluxEV 复现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D00F02-7E7A-4367-BF9A-C08193FF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62200"/>
            <a:ext cx="666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论文选择：FluxEV 主复现，Donut 作为对照阅读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B330BA-488D-4009-91CC-E80C6B2C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099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060961-78D1-4111-B71D-EDDEC9D2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最低标准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6F64C8-2144-4273-B50D-DDF0A380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0099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F0D3FC-4EF0-4DEF-8425-F8CF12810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670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可运行复现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79CF0F-014C-45CC-A333-74F73857C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00990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FA5766-055C-4601-B5AC-CE28E8C7C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67050"/>
            <a:ext cx="15049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过程截图齐备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676FAB-4291-444F-A1D5-070B63D81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71900"/>
            <a:ext cx="114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交付物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2522C0-0242-4E9B-B4CE-992EFED3F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76700"/>
            <a:ext cx="342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1. 大作业报告 PDF\n2. 展示汇报 PPTX\n3. 源码提交包\n4. 运行与部署截图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CBC1DE-F989-4715-96C2-CB97446E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162050"/>
            <a:ext cx="3524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250F694-9EF0-4194-A264-604B6393A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4097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Project snapshot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D7A37E-63F4-4EAC-A6AD-692D9BA4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289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D6E3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CFB0D7-B0C0-4154-AB9A-67144EB9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962150"/>
            <a:ext cx="2724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Online Boutique\n+\n新增 diagnosis-service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CA3DB2-C368-4610-9898-41A6D943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81300"/>
            <a:ext cx="30289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44C679-C95C-4A49-AFCE-8DD15ACA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28950"/>
            <a:ext cx="26479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复现主线\nFluxEV: 轻量时序异常检测\n\n展示主线\nPrometheus + Grafana + ChaosMesh\n\n测试主线\nSelenium + JMeter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C4ACB0-4D1B-49AD-90FF-93750C0EA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solidFill>
              <a:srgbClr val="D9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5B96FA8-C9B7-4189-AC91-BC2658EEB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913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P1 / 定题与交付物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0FA86D9-62D5-4B0E-8EC2-55DA4DD3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59130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Software Testing and Maintenance Final Project</a:t>
            </a:r>
          </a:p>
        </p:txBody>
      </p:sp>
    </p:spTree>
    <p:extLst>
      <p:ext uri="{BB962C8B-B14F-4D97-AF65-F5344CB8AC3E}">
        <p14:creationId xmlns:p14="http://schemas.microsoft.com/office/powerpoint/2010/main" val="109779590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79EA7B-5100-40AA-A754-1990AC0E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215AE7-12DC-48DD-BAD9-45B3EECC3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F4F99A-5452-4059-B985-CB2166A67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要求拆解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5EBF00-4CA6-412E-8CDF-BDE76A56B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按最低标准把任务压缩成可交付的四步链路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541E29-3BD5-4B6E-BB15-D4E69C2E7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3429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C10555-8733-4AD9-A42C-79EE675D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9065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078E71-C28B-491D-9B88-385B71325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3162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评分档位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209E0F-ECDB-4244-9116-EBECC1DD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28800"/>
            <a:ext cx="3162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第一档只做 SockShop。\n第二档换更复杂的开源微服务系统。\n第三档在第二档基础上再做 1-2 个微服务开发。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A2C9DE-6785-48EE-8888-3A049435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90650"/>
            <a:ext cx="3429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5A96BB-2199-4691-BA1D-3A9ED079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9065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08E42E-CB1C-4C4E-846E-F590DC6B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24000"/>
            <a:ext cx="3162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本次选择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28B0E3-6061-4074-A44C-2A99BD8C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28800"/>
            <a:ext cx="3162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用 Online Boutique 代替 SockShop，保留“部署 + 监控 + 测试”的主线。\n再新增一个轻量 diagnosis-service，满足第三档。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1DEB35-0BBD-41AB-B3A4-4878D8071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390650"/>
            <a:ext cx="34290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6977C4-0CC8-4423-B6EF-77C2D78E6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390650"/>
            <a:ext cx="571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A0AA80-8489-4663-B5AF-E6870462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524000"/>
            <a:ext cx="3162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论文策略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371FC0-B6A9-4630-9DCC-9A7E433F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28800"/>
            <a:ext cx="3162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FluxEV 作为主复现，原因是统计型、轻量、实现成本低。\nDonut 只做阅读与对比，不做完整复现。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949516-8A36-47EE-92CA-11623C9F8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3718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执行路线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9182A3-3737-4E43-89CD-1DA3F42F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90950"/>
            <a:ext cx="438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91FF35-480C-4941-9B74-447CCFE7C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09E82A-CD37-4EAF-B9CD-9AFD34981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14775"/>
            <a:ext cx="2133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938392-C54C-4930-ACAA-19E8ECCC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57600"/>
            <a:ext cx="1962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部署 Online Boutique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D0FF9A-A028-4B79-B4A8-C55790B1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90950"/>
            <a:ext cx="438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C608E3-D861-4901-9DA3-D3F30553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4810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2C2BCD-1159-4E92-A389-CF3D084A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14775"/>
            <a:ext cx="2133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444B0A9-821B-4152-948E-254DB907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657600"/>
            <a:ext cx="1962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接入 Prometheus/Grafana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214BCA-8562-420B-ADB3-3430835A5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790950"/>
            <a:ext cx="438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9525">
            <a:solidFill>
              <a:srgbClr val="D9770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BC253DA-54F2-48AD-8FAB-5AFF5F6E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84810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A1956B-F14F-4A81-98AC-824372C5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14775"/>
            <a:ext cx="2133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060421-D6B5-40C7-A7DF-DEA8089C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57600"/>
            <a:ext cx="1962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JMeter / Selenium / ChaosMesh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311AAA-F9D2-4BBA-BDE8-A6C435FDA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790950"/>
            <a:ext cx="4381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2FAF5C-D325-4DD3-930B-06C3D0DE0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4810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135A5D-9A19-43F4-BE97-A4632400D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914775"/>
            <a:ext cx="24384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3CE3B58-5222-49B6-86B7-D2027669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657600"/>
            <a:ext cx="2266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FluxEV 异常检测 + diagnosis-service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5F4C9B-CC47-4FD7-BCF3-EA4C235D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57700"/>
            <a:ext cx="49149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12D3DFF-F89B-4037-826E-F3F37592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57700"/>
            <a:ext cx="571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1C1C"/>
          </a:solidFill>
          <a:ln xmlns:a="http://schemas.openxmlformats.org/drawingml/2006/main" w="0">
            <a:solidFill>
              <a:srgbClr val="B91C1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B658359-859C-4CEB-A330-A4DB3CFAF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91050"/>
            <a:ext cx="46482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报告里只保留的内容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8C2075-1F77-463B-A51D-331207DE4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46482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部署截图、测试截图、实验图、论文对比、微服务接口说明、仓库链接。\n不做加分项，不追求复杂算法，不额外扩展更多论文。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67174A1-25D6-4030-8599-88A67C7DC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57700"/>
            <a:ext cx="575310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FC6B852-8C13-477E-A152-C6440FF8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57700"/>
            <a:ext cx="57150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CFAED31-9965-4ED2-B5FA-10C670BAF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91050"/>
            <a:ext cx="5486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交付判断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9B24429-A662-434C-9C5C-CC1B73B9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895850"/>
            <a:ext cx="54864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只要代码能跑、图能出、报告能说清楚、PPT 能讲明白，\n就已经达到本次作业的最低完成线。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104F701-327B-4FDE-AB6C-2403C2F6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solidFill>
              <a:srgbClr val="D9E0E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2C6AC7A-31AD-4160-A0AE-5938238AD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913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P2 / 要求与实现策略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5F4512A-308D-4E6D-AFD2-EFC85D6B3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59130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Software Testing and Maintenance Final Project</a:t>
            </a:r>
          </a:p>
        </p:txBody>
      </p:sp>
    </p:spTree>
    <p:extLst>
      <p:ext uri="{BB962C8B-B14F-4D97-AF65-F5344CB8AC3E}">
        <p14:creationId xmlns:p14="http://schemas.microsoft.com/office/powerpoint/2010/main" val="8309178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F577C6-70F6-48CD-BBD1-17983633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1B5527-7C49-4393-B602-5A5CF4C6E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D7E6DD-EFE8-4F47-8FED-5AE99A7C0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两篇论文的取舍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CB2646-8A29-4E3A-8203-5599AE3D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FluxEV 做主复现，Donut 做阅读对照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C65492-F6C3-4E6F-A8E6-31D38FB2A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342900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E7E9AB-962D-44A0-AFEE-977BF558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71600"/>
            <a:ext cx="5715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2B434A-29CC-4672-A183-960784A67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3162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FluxEV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ABF8C3-8DCC-4999-8007-926273D0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1623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WSDM 2021\n\n关键词：时序异常检测、SPOT、Method of Moments、两步平滑、极值化转换。\n\n优点：\n- 实现短\n- 不依赖大规模训练\n- 适合 KPI/监控数据\n\n缺点：\n- 需要自己拼一个轻量版本\n- 结果更像工程复现而不是学术完全复现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31EF1E-1932-4BF3-9507-DEC3F1295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371600"/>
            <a:ext cx="342900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845B18-9975-4A23-B608-20CF22C92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371600"/>
            <a:ext cx="5715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B76C7B-05C0-40CC-BAAF-61BE578A2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504950"/>
            <a:ext cx="3162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Donut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4AC091-271D-443E-A27F-09060AAA6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809750"/>
            <a:ext cx="31623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WWW 2018\n\n关键词：VAE、modified ELBO、missing data injection、MCMC imputation。\n\n优点：\n- 论文经典\n- 适合做阅读分析\n- 和 KPI 场景贴合\n\n缺点：\n- 训练链路长\n- 复现成本高\n- 对参数和数据质量更敏感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C3167B-727F-4427-87CF-A47EB58E4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371600"/>
            <a:ext cx="354330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87358F-8313-490A-96B0-0E86F635B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371600"/>
            <a:ext cx="57150" cy="398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9CC9B5-6A89-42B5-9DDF-24C5AEAA8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04950"/>
            <a:ext cx="3276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最终决策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0F1992-A7BF-42E3-99F0-3BAB02A6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9750"/>
            <a:ext cx="32766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主复现选 FluxEV。\n理由只有一个：最低标准下，最稳的方案应该先把实验跑出来，再把故事讲清楚。\n\nDonut 只保留在论文阅读部分，避免把时间耗在深度模型调参上。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7EF8B3-F918-4F9B-8F8C-25681F1E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61975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solidFill>
              <a:srgbClr val="D9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C57BBF-7AC8-4574-8C62-808F8651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772150"/>
            <a:ext cx="190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复现复杂度对比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25BA7EC-F0B3-45C9-B1F0-76A345287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77215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FluxEV 低 | Donut 中高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1CA377-BE57-412D-ACCD-5D3AA06F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solidFill>
              <a:srgbClr val="D9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BDCE83-9279-46AB-83FA-5FC708E5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913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P3 / 论文选择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7F46FD-547A-4152-B73C-98E8B1881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59130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Software Testing and Maintenance Final Project</a:t>
            </a:r>
          </a:p>
        </p:txBody>
      </p:sp>
    </p:spTree>
    <p:extLst>
      <p:ext uri="{BB962C8B-B14F-4D97-AF65-F5344CB8AC3E}">
        <p14:creationId xmlns:p14="http://schemas.microsoft.com/office/powerpoint/2010/main" val="88889178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053450-5B0D-409B-9E90-159BFCB8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4E89B7-2124-4479-95C6-B083B0C2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B3B642-EE13-46AC-8A0C-E8F2E6FE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系统与数据链路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70563B-2530-4182-9599-F5C21BC0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从微服务监控数据到异常检测输出，再回到诊断服务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AC0775-41AF-47F4-A697-C63F22DD4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55FF84-4DF8-4538-ADBC-798B976A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BA2FC0-676B-40A9-8EF5-543C885F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2114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Online Boutique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C79746-4B0F-486B-8B3A-AFA5B900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19300"/>
            <a:ext cx="2114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微服务系统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F671E16-9E95-4DB4-89B0-51C66D56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81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18D5A9-90DC-4C06-9768-9452CF86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5811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7C07AB-6926-4798-9FD7-F75FD6561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1714500"/>
            <a:ext cx="2114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Prometheus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E7CC25-7AA6-4106-A1DC-C31D9B11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019300"/>
            <a:ext cx="2114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采集指标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BA84E2-CA36-4366-8930-027A8FC1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81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F19580-39DE-4EF8-B167-981D794A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811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2EA649-D8E1-4850-9071-A1FAAEC52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714500"/>
            <a:ext cx="2114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FluxEV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98A1D6-340D-40CC-88D9-9B003F9C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19300"/>
            <a:ext cx="2114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复现算法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4296AB-23E3-48E1-8998-CD0E7F49F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581150"/>
            <a:ext cx="2381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BBA132-57F5-4C1D-8DA2-0D6BA1A7A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581150"/>
            <a:ext cx="571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EBE836-41C2-4944-AA66-5B3A0E32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714500"/>
            <a:ext cx="2114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diagnosis-service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2C4B7B-66CE-43B3-9FB1-ACA99A5DF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019300"/>
            <a:ext cx="21145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查询接口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CCAB86-64A9-4F78-9CA3-3C877B8A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790700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D37848-9116-40B2-834D-9CF9FCED1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790700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788F56-9D2B-4324-9A98-433CFDB9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90700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475569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1F356B1-8363-4257-8186-DA3F31018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33337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2385CB-06B5-40EF-802E-A205B958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52750"/>
            <a:ext cx="57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1EB0CD-6089-4392-B839-F4FF2CB1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3067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测试工具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CB7082-C7A3-4161-9CB4-392DCC41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90900"/>
            <a:ext cx="30670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JMeter：并发与性能压测。\nSelenium：前端功能测试。\nChaosMesh：故障注入。\nGrafana：监控与可视化。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B37B18D-EEA2-4C28-9735-71FBD0B3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52750"/>
            <a:ext cx="33337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7C6689-00AC-4360-ACBF-69930CAAD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952750"/>
            <a:ext cx="57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DEBE3E-92F0-41D1-9979-C2E88CE6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086100"/>
            <a:ext cx="3067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复现数据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4A2EA9-0B37-4794-9B18-3C6D1D416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390900"/>
            <a:ext cx="30670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用 p95 latency 这类 KPI 风格指标构造时序。\n保留周期性、噪声和突发异常，方便说明 FluxEV 的工作方式。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C401B1-A281-408A-8342-504A9F8D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52750"/>
            <a:ext cx="33337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D03F5E-AB74-4999-BBC7-3A3B5F8B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952750"/>
            <a:ext cx="571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95E90C8-9FD7-4CF0-B485-6AE3C9D6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086100"/>
            <a:ext cx="3067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开发部分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32E34A-C5D1-4490-B590-04CDF38CF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90900"/>
            <a:ext cx="30670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新增 diagnosis-service：\n/health、/summary、/anomalies。\n它负责把复现后的结果转成简单的查询接口。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0ECB666-C81E-421A-98EE-D782A72C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29200"/>
            <a:ext cx="1257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F38CB4-21F1-4875-9E14-8AED38EB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输出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5362C7F-DAF8-48C1-B7B3-420E623E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057775"/>
            <a:ext cx="828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异常分数、阈值、预测标签、实验图、报告图表、PPT 插图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07EDB79-B356-4E49-98A8-FD956FFC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solidFill>
              <a:srgbClr val="D9E0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BF02CB2-A252-4007-B588-91B497D4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913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P4 / 架构与数据链路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C58651C-1D7A-4189-80CE-A24DEDFA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59130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Software Testing and Maintenance Final Project</a:t>
            </a:r>
          </a:p>
        </p:txBody>
      </p:sp>
    </p:spTree>
    <p:extLst>
      <p:ext uri="{BB962C8B-B14F-4D97-AF65-F5344CB8AC3E}">
        <p14:creationId xmlns:p14="http://schemas.microsoft.com/office/powerpoint/2010/main" val="210739736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964E32-8F07-4D30-83F4-FDCAF51E3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CF7EE5-8304-4F5B-99D7-BDD5C9AD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82862D-B6EA-4E6B-8361-2A6B3BD88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FluxEV 复现实验结果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F0817B-DA4F-4427-8973-7D823DBD7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先跑出图，再谈效果；这是最低标准最重要的一步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27481A-579C-4259-8D00-580D45262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90650"/>
            <a:ext cx="33147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A1B15D-C334-4AFE-8E10-1799376A3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62100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Precision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35A578-116D-4260-8246-2D16AA978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71650"/>
            <a:ext cx="114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0.675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920758-6046-41B5-A3E2-CEE933AF9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562100"/>
            <a:ext cx="857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Recall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718076-BC7F-4227-95EF-8B51FB58A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771650"/>
            <a:ext cx="8572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0.750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698800-3AEC-4EC3-A381-988571D99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621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F1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05660F-73C9-44F8-A224-A9F68C3CE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771650"/>
            <a:ext cx="762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0.711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582206-7365-443E-AF1F-A84DA7515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544830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5e0f8c44f841f5"/>
          <a:stretch xmlns:a="http://schemas.openxmlformats.org/drawingml/2006/main"/>
        </p:blipFill>
        <p:spPr>
          <a:xfrm xmlns:a="http://schemas.openxmlformats.org/drawingml/2006/main">
            <a:off x="647700" y="3282315"/>
            <a:ext cx="5257800" cy="210312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420BCF-F5F1-4FAD-9C07-CE2084588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52197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detection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A161D8-4377-4EF6-B47F-9CB23BF4C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724150"/>
            <a:ext cx="53530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8af28f0c674ade"/>
          <a:stretch xmlns:a="http://schemas.openxmlformats.org/drawingml/2006/main"/>
        </p:blipFill>
        <p:spPr>
          <a:xfrm xmlns:a="http://schemas.openxmlformats.org/drawingml/2006/main">
            <a:off x="6400800" y="3430429"/>
            <a:ext cx="5162550" cy="1806893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E35D76-A0C6-48B0-A049-C9F83071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5715000"/>
            <a:ext cx="5124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threshold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29CFF8-601C-42B4-90F7-6223FAB78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solidFill>
              <a:srgbClr val="D9E0E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95B7BF-2B9B-403D-99A9-063BF014A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913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P5 / 复现结果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B83A36A-CDAE-4C49-93FC-A27CAB60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59130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Software Testing and Maintenance Final Project</a:t>
            </a:r>
          </a:p>
        </p:txBody>
      </p:sp>
    </p:spTree>
    <p:extLst>
      <p:ext uri="{BB962C8B-B14F-4D97-AF65-F5344CB8AC3E}">
        <p14:creationId xmlns:p14="http://schemas.microsoft.com/office/powerpoint/2010/main" val="192254808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E430CC-B123-4FF5-A7FE-002441D7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CA5C16-AAB8-4065-BC16-8627BEC87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79D780-F4E4-48EE-A095-2AEDD3AA0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新增微服务：diagnosis-service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A30892-008C-4BFE-9913-AA971FE15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第三档最低成本开发点，只做结果查询，不做复杂业务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0FCE0A-B2A6-4B14-8D98-4F03D8475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34290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74D90A-81BF-48E9-AECA-9C7C1B5FE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571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E33E4C-A58D-402E-94CC-A593D2330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62100"/>
            <a:ext cx="3162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接口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4A998B-2124-4F9C-9315-31146ED1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31623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/health: 健康检查\n/summary: 异常统计\n/anomalies?limit=20: 返回异常点列表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9A5709-4D96-4F5D-8840-DB8ABDE7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428750"/>
            <a:ext cx="34290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6F41DF-5268-48F9-B73F-0FAA6FE40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428750"/>
            <a:ext cx="571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59EB9C-38A8-4809-BB1D-428187417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562100"/>
            <a:ext cx="3162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数据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69DB38-21CD-4E44-B213-A1CD305F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866900"/>
            <a:ext cx="31623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读取 metrics_with_scores.csv。\n输入来自 FluxEV 复现实验输出。\n这样报告里能说清楚“算法结果如何暴露给系统”。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6E79F7-E1C1-400C-AFD4-659F83846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428750"/>
            <a:ext cx="34671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DC2246-4D18-471F-9CA4-4F01B9FF7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428750"/>
            <a:ext cx="571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83FB9E-23AC-4A05-9658-4C59A75DC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562100"/>
            <a:ext cx="3200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部署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D97D34-2650-4361-8083-B37E7380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866900"/>
            <a:ext cx="32004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Deployment + Service + ConfigMap。\n挂载实验结果文件，端口 8080。\n这就是本次最小微服务开发。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01E422-FAEE-4490-B09C-454BE9199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48050"/>
            <a:ext cx="103251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66FF16-D837-428D-88E6-11CD801E4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385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请求示意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339F70-D696-4F3D-A4B7-73BE5FEE5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1955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curl http://diagnosis-service/summary\n→ { points, predicted_anomalies, threshold, metric }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4454F8-4686-44F7-A77A-03BD1A82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43350"/>
            <a:ext cx="44005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这个服务的作用不是替代业务，而是把实验结果变成一个可查、可演示、可截图的接口。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313987-39D9-4EE0-96DF-F2192F892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solidFill>
              <a:srgbClr val="D9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47DCD8-7AE3-468E-A851-9537CFF8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913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P6 / 微服务开发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8AA33B-4EEA-4A40-8597-76AB0098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59130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Software Testing and Maintenance Final Project</a:t>
            </a:r>
          </a:p>
        </p:txBody>
      </p:sp>
    </p:spTree>
    <p:extLst>
      <p:ext uri="{BB962C8B-B14F-4D97-AF65-F5344CB8AC3E}">
        <p14:creationId xmlns:p14="http://schemas.microsoft.com/office/powerpoint/2010/main" val="80670066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2BA52B-441D-415B-94DA-4F75569F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366974-A90F-448A-98B8-48C39E93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2B8857-0301-43AB-99C3-D8267819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过程截图与命令结果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274A16-5E86-47E7-975B-E051E0DD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用最少的证据支撑报告和答辩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079672-ECD7-4FBF-A007-E3B57F858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342900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41ac13e52b41f8"/>
          <a:stretch xmlns:a="http://schemas.openxmlformats.org/drawingml/2006/main"/>
        </p:blipFill>
        <p:spPr>
          <a:xfrm xmlns:a="http://schemas.openxmlformats.org/drawingml/2006/main">
            <a:off x="647700" y="2607129"/>
            <a:ext cx="3238500" cy="1758043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C1A0A6-2A63-4E6C-BBCC-17B52B2C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76850"/>
            <a:ext cx="320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Docker daemon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E3AA9E-70FD-4DFF-A5C6-CEB1EE61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E68A33-88F7-4013-BD6C-68AC215F4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Docker daemon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C600DE-47D6-428C-A1B2-88D7B7EF9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66850"/>
            <a:ext cx="342900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e238d6d43c426a"/>
          <a:stretch xmlns:a="http://schemas.openxmlformats.org/drawingml/2006/main"/>
        </p:blipFill>
        <p:spPr>
          <a:xfrm xmlns:a="http://schemas.openxmlformats.org/drawingml/2006/main">
            <a:off x="4362450" y="2607129"/>
            <a:ext cx="3238500" cy="1758043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753F3D-47CF-4954-BB61-8F28A45CA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5276850"/>
            <a:ext cx="320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Minikube 状态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31F14A-3D27-43F4-AB79-E1B4C589E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668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D34676-C9D1-4BC2-83EE-C9868DC2F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5430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Minikube 状态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2470F7F-8047-48F8-9DD2-E4303E904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466850"/>
            <a:ext cx="3429000" cy="403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39727aea3048db"/>
          <a:stretch xmlns:a="http://schemas.openxmlformats.org/drawingml/2006/main"/>
        </p:blipFill>
        <p:spPr>
          <a:xfrm xmlns:a="http://schemas.openxmlformats.org/drawingml/2006/main">
            <a:off x="8077200" y="2607129"/>
            <a:ext cx="3238500" cy="1758043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7A44FB-D46B-4105-BFED-BAB5290A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276850"/>
            <a:ext cx="3200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源码包状态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FA63B8-9B72-45C8-8029-F3C2DEF49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4668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9E0F3A-E2D1-4D46-BAEF-2075B8E02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43050"/>
            <a:ext cx="2381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源码包状态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D9771A-B9BB-4EBF-A37D-6A9A9F0BC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72150"/>
            <a:ext cx="11125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7EB459-BA0A-4EF3-8183-BDED0110B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72150"/>
            <a:ext cx="571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03D"/>
          </a:solidFill>
          <a:ln xmlns:a="http://schemas.openxmlformats.org/drawingml/2006/main" w="0">
            <a:solidFill>
              <a:srgbClr val="15803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8E7E80-3282-4D26-A71D-FFD33270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86450"/>
            <a:ext cx="1066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这些截图会写进报告附录，也会放进 PPT 的证据页，用来证明环境确实拉起过、命令确实执行过。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A44151-A6BA-4313-9BD0-00B15B8C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solidFill>
              <a:srgbClr val="D9E0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1929A0-3349-407D-BCBD-A731265C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913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P7 / 过程证据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A136FC1-D28E-4D57-9F0F-B9116697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59130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Software Testing and Maintenance Final Project</a:t>
            </a:r>
          </a:p>
        </p:txBody>
      </p:sp>
    </p:spTree>
    <p:extLst>
      <p:ext uri="{BB962C8B-B14F-4D97-AF65-F5344CB8AC3E}">
        <p14:creationId xmlns:p14="http://schemas.microsoft.com/office/powerpoint/2010/main" val="200742180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3A366F-1418-46EE-9317-190666372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8FB"/>
          </a:solidFill>
          <a:ln xmlns:a="http://schemas.openxmlformats.org/drawingml/2006/main" w="0">
            <a:solidFill>
              <a:srgbClr val="F6F8F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6DF2A4-CE5E-4266-A185-03120CF1D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FEB6B9-A8FC-4946-B7DD-5D89C6AD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7810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结论与仓库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90DEB1-96A7-47CF-A4F2-12C55537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3820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完成最低标准第三档，保留扩展空间但不做加分项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F719BA-BFDF-4CB3-84D5-6514018D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33337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4DD703-EA9B-477D-B0B6-CBDFF103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09700"/>
            <a:ext cx="571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BB0171-2345-4FA7-BE5D-62416BBEE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43050"/>
            <a:ext cx="3067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完成情况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A3D1F9-C478-4895-99EE-850167647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30670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1. 选题和论文已确定。\n2. Online Boutique 作为复杂微服务系统。\n3. diagnosis-service 作为开发点。\n4. FluxEV 作为主复现。\n5. 报告、PPT、仓库与截图一套打通。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C74C75-DFEC-40F6-845A-48D3E621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409700"/>
            <a:ext cx="33337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1C988B-7B1A-40A3-B141-4093226E4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409700"/>
            <a:ext cx="571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4115AD-C221-4033-89E4-8A73BD03C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543050"/>
            <a:ext cx="3067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不做的部分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7F010E-849A-41D9-AA88-5134D4B0D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847850"/>
            <a:ext cx="30670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不做加分论文对比。\n不做智能体运维封装。\n不追求深度学习重复现。\n目标就是把第三档最低线稳稳落地。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DDB23D-1F1B-4D44-9FEF-09EBC481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409700"/>
            <a:ext cx="36766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0C55D0-B633-4230-A463-CC3A3387A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409700"/>
            <a:ext cx="571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06"/>
          </a:solidFill>
          <a:ln xmlns:a="http://schemas.openxmlformats.org/drawingml/2006/main" w="0">
            <a:solidFill>
              <a:srgbClr val="D9770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9D7F7E-54F4-46B6-AE62-3EB40A87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543050"/>
            <a:ext cx="3409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提交包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0EBA34-7CE8-4257-A4A9-4128F73B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47850"/>
            <a:ext cx="34099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源码、实验数据、截图、报告和 PPT 已统一放入项目目录。\n最终提交时使用脱敏压缩包，不展示个人仓库地址或本机绝对路径。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00CDA4-A701-48B4-BC99-7CE7CD30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104584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BEAF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B47BBFB-DEBC-4443-ABE5-07F9B7B0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34340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答辩时的讲法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B7AC5F-AFA7-40AC-8800-11AEDC28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05350"/>
            <a:ext cx="600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先讲系统，再讲测试，再讲监控，最后讲复现。\n逻辑顺序尽量稳定，别在有限时间里把重点讲散。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30FCB0-BA1B-4817-8D9D-A97DE5CE3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533900"/>
            <a:ext cx="1333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5803D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5803D"/>
                </a:solidFill>
                <a:latin typeface="Aptos"/>
                <a:ea typeface="Aptos"/>
                <a:cs typeface="Aptos"/>
              </a:rPr>
              <a:t>结束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763EFE-0906-472A-9B05-CA08F267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341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A"/>
          </a:solidFill>
          <a:ln xmlns:a="http://schemas.openxmlformats.org/drawingml/2006/main" w="0">
            <a:solidFill>
              <a:srgbClr val="D9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BFD46F-2E6E-42D2-BF2D-25AEB883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913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P8 / 结论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168955-EB02-4022-9196-495C8042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6591300"/>
            <a:ext cx="3143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475569"/>
                </a:solidFill>
                <a:latin typeface="Aptos"/>
                <a:ea typeface="Aptos"/>
                <a:cs typeface="Aptos"/>
              </a:rPr>
              <a:t>Software Testing and Maintenance Final Project</a:t>
            </a:r>
          </a:p>
        </p:txBody>
      </p:sp>
    </p:spTree>
    <p:extLst>
      <p:ext uri="{BB962C8B-B14F-4D97-AF65-F5344CB8AC3E}">
        <p14:creationId xmlns:p14="http://schemas.microsoft.com/office/powerpoint/2010/main" val="9080652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2026-06-10T18:00:49.8290000Z</dcterms:created>
  <dcterms:modified xsi:type="dcterms:W3CDTF">2026-06-10T18:00:49.8290000Z</dcterms:modified>
</coreProperties>
</file>